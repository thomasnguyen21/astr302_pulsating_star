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Roboto"/>
      <p:regular r:id="rId23"/>
      <p:bold r:id="rId24"/>
      <p:italic r:id="rId25"/>
      <p:boldItalic r:id="rId26"/>
    </p:embeddedFont>
    <p:embeddedFont>
      <p:font typeface="Merriweather Light"/>
      <p:regular r:id="rId27"/>
      <p:bold r:id="rId28"/>
      <p:italic r:id="rId29"/>
      <p:boldItalic r:id="rId30"/>
    </p:embeddedFont>
    <p:embeddedFont>
      <p:font typeface="Merriweather"/>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MerriweatherLight-bold.fntdata"/><Relationship Id="rId27" Type="http://schemas.openxmlformats.org/officeDocument/2006/relationships/font" Target="fonts/MerriweatherLigh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erriweatherLigh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erriweather-regular.fntdata"/><Relationship Id="rId30" Type="http://schemas.openxmlformats.org/officeDocument/2006/relationships/font" Target="fonts/MerriweatherLight-boldItalic.fntdata"/><Relationship Id="rId11" Type="http://schemas.openxmlformats.org/officeDocument/2006/relationships/slide" Target="slides/slide6.xml"/><Relationship Id="rId33" Type="http://schemas.openxmlformats.org/officeDocument/2006/relationships/font" Target="fonts/Merriweather-italic.fntdata"/><Relationship Id="rId10" Type="http://schemas.openxmlformats.org/officeDocument/2006/relationships/slide" Target="slides/slide5.xml"/><Relationship Id="rId32" Type="http://schemas.openxmlformats.org/officeDocument/2006/relationships/font" Target="fonts/Merriweather-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Merriweather-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e78c5ca4a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e78c5ca4a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638f9c830c6b8adc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638f9c830c6b8adc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06a2d556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e06a2d556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06a2d5566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e06a2d5566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7875f21b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7875f21b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7875f21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7875f21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7875f21b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e7875f21b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7875f21b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7875f21b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e7875f21b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e7875f21b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78c5ca4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e78c5ca4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78c5ca4a8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e78c5ca4a8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78c5ca4a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78c5ca4a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e78c5ca4a8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e78c5ca4a8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e78c5ca4a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e78c5ca4a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e78c5ca4a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e78c5ca4a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638f9c830c6b8adc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638f9c830c6b8adc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Pulsation of a Subdwarf B Star</a:t>
            </a:r>
            <a:endParaRPr/>
          </a:p>
        </p:txBody>
      </p:sp>
      <p:sp>
        <p:nvSpPr>
          <p:cNvPr id="65" name="Google Shape;65;p13"/>
          <p:cNvSpPr txBox="1"/>
          <p:nvPr>
            <p:ph idx="1" type="subTitle"/>
          </p:nvPr>
        </p:nvSpPr>
        <p:spPr>
          <a:xfrm>
            <a:off x="311700" y="1565850"/>
            <a:ext cx="5457300" cy="121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latin typeface="Merriweather Light"/>
                <a:ea typeface="Merriweather Light"/>
                <a:cs typeface="Merriweather Light"/>
                <a:sym typeface="Merriweather Light"/>
              </a:rPr>
              <a:t>ASTR 302, SPRING 2026</a:t>
            </a:r>
            <a:endParaRPr sz="1300">
              <a:latin typeface="Merriweather Light"/>
              <a:ea typeface="Merriweather Light"/>
              <a:cs typeface="Merriweather Light"/>
              <a:sym typeface="Merriweather Light"/>
            </a:endParaRPr>
          </a:p>
          <a:p>
            <a:pPr indent="0" lvl="0" marL="0" rtl="0" algn="l">
              <a:spcBef>
                <a:spcPts val="0"/>
              </a:spcBef>
              <a:spcAft>
                <a:spcPts val="0"/>
              </a:spcAft>
              <a:buNone/>
            </a:pPr>
            <a:r>
              <a:t/>
            </a:r>
            <a:endParaRPr sz="1300">
              <a:latin typeface="Merriweather Light"/>
              <a:ea typeface="Merriweather Light"/>
              <a:cs typeface="Merriweather Light"/>
              <a:sym typeface="Merriweather Light"/>
            </a:endParaRPr>
          </a:p>
          <a:p>
            <a:pPr indent="0" lvl="0" marL="0" rtl="0" algn="l">
              <a:spcBef>
                <a:spcPts val="0"/>
              </a:spcBef>
              <a:spcAft>
                <a:spcPts val="0"/>
              </a:spcAft>
              <a:buNone/>
            </a:pPr>
            <a:r>
              <a:rPr lang="en" sz="1300">
                <a:latin typeface="Merriweather Light"/>
                <a:ea typeface="Merriweather Light"/>
                <a:cs typeface="Merriweather Light"/>
                <a:sym typeface="Merriweather Light"/>
              </a:rPr>
              <a:t>Zach Haarz, Lauren Jones, Thomas Nguyen, Ava Anderson</a:t>
            </a:r>
            <a:endParaRPr sz="1300">
              <a:latin typeface="Merriweather Light"/>
              <a:ea typeface="Merriweather Light"/>
              <a:cs typeface="Merriweather Light"/>
              <a:sym typeface="Merriweather Light"/>
            </a:endParaRPr>
          </a:p>
        </p:txBody>
      </p:sp>
      <p:pic>
        <p:nvPicPr>
          <p:cNvPr id="66" name="Google Shape;66;p13" title="IMG_0520.jpeg"/>
          <p:cNvPicPr preferRelativeResize="0"/>
          <p:nvPr/>
        </p:nvPicPr>
        <p:blipFill rotWithShape="1">
          <a:blip r:embed="rId3">
            <a:alphaModFix/>
          </a:blip>
          <a:srcRect b="14398" l="15930" r="15937" t="18668"/>
          <a:stretch/>
        </p:blipFill>
        <p:spPr>
          <a:xfrm>
            <a:off x="5629625" y="1686125"/>
            <a:ext cx="2639100" cy="3457500"/>
          </a:xfrm>
          <a:prstGeom prst="round2SameRect">
            <a:avLst>
              <a:gd fmla="val 16667" name="adj1"/>
              <a:gd fmla="val 0" name="adj2"/>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Introduction</a:t>
            </a:r>
            <a:endParaRPr b="1"/>
          </a:p>
        </p:txBody>
      </p:sp>
      <p:sp>
        <p:nvSpPr>
          <p:cNvPr id="72" name="Google Shape;72;p14"/>
          <p:cNvSpPr txBox="1"/>
          <p:nvPr>
            <p:ph idx="1" type="body"/>
          </p:nvPr>
        </p:nvSpPr>
        <p:spPr>
          <a:xfrm>
            <a:off x="311700" y="1505700"/>
            <a:ext cx="8679900" cy="33954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0"/>
              </a:spcAft>
              <a:buNone/>
            </a:pPr>
            <a:r>
              <a:rPr lang="en" sz="1400">
                <a:latin typeface="Merriweather"/>
                <a:ea typeface="Merriweather"/>
                <a:cs typeface="Merriweather"/>
                <a:sym typeface="Merriweather"/>
              </a:rPr>
              <a:t>Through observing the </a:t>
            </a:r>
            <a:r>
              <a:rPr lang="en" sz="1400" u="sng">
                <a:latin typeface="Merriweather"/>
                <a:ea typeface="Merriweather"/>
                <a:cs typeface="Merriweather"/>
                <a:sym typeface="Merriweather"/>
              </a:rPr>
              <a:t>light curve and periodogram</a:t>
            </a:r>
            <a:r>
              <a:rPr lang="en" sz="1400">
                <a:latin typeface="Merriweather"/>
                <a:ea typeface="Merriweather"/>
                <a:cs typeface="Merriweather"/>
                <a:sym typeface="Merriweather"/>
              </a:rPr>
              <a:t> of a subdwarf B star, we will be able to mold the data into a format that allows us to </a:t>
            </a:r>
            <a:r>
              <a:rPr lang="en" sz="1400" u="sng">
                <a:latin typeface="Merriweather"/>
                <a:ea typeface="Merriweather"/>
                <a:cs typeface="Merriweather"/>
                <a:sym typeface="Merriweather"/>
              </a:rPr>
              <a:t>derive the pulsation frequencies</a:t>
            </a:r>
            <a:r>
              <a:rPr lang="en" sz="1400">
                <a:latin typeface="Merriweather"/>
                <a:ea typeface="Merriweather"/>
                <a:cs typeface="Merriweather"/>
                <a:sym typeface="Merriweather"/>
              </a:rPr>
              <a:t> </a:t>
            </a:r>
            <a:r>
              <a:rPr lang="en" sz="1400">
                <a:latin typeface="Merriweather"/>
                <a:ea typeface="Merriweather"/>
                <a:cs typeface="Merriweather"/>
                <a:sym typeface="Merriweather"/>
              </a:rPr>
              <a:t>we observe. The short-period of our target star makes it an attractive candidate for being able to get a large number of pulsation periods over just one night of observing. Through this program, we </a:t>
            </a:r>
            <a:r>
              <a:rPr lang="en" sz="1400" u="sng">
                <a:latin typeface="Merriweather"/>
                <a:ea typeface="Merriweather"/>
                <a:cs typeface="Merriweather"/>
                <a:sym typeface="Merriweather"/>
              </a:rPr>
              <a:t>observe the p-modes of a subdwarf B star</a:t>
            </a:r>
            <a:r>
              <a:rPr lang="en" sz="1400">
                <a:latin typeface="Merriweather"/>
                <a:ea typeface="Merriweather"/>
                <a:cs typeface="Merriweather"/>
                <a:sym typeface="Merriweather"/>
              </a:rPr>
              <a:t> to further understand the asteroseismological processes of the star through comparison with existing test data and other stars within the field of observation.</a:t>
            </a:r>
            <a:endParaRPr sz="1500">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a subdwarf B star? </a:t>
            </a:r>
            <a:endParaRPr/>
          </a:p>
        </p:txBody>
      </p:sp>
      <p:sp>
        <p:nvSpPr>
          <p:cNvPr id="78" name="Google Shape;78;p15"/>
          <p:cNvSpPr txBox="1"/>
          <p:nvPr>
            <p:ph idx="1" type="body"/>
          </p:nvPr>
        </p:nvSpPr>
        <p:spPr>
          <a:xfrm>
            <a:off x="311700" y="1505700"/>
            <a:ext cx="4260300" cy="3394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Merriweather"/>
              <a:buChar char="-"/>
            </a:pPr>
            <a:r>
              <a:rPr lang="en" sz="1400">
                <a:latin typeface="Merriweather"/>
                <a:ea typeface="Merriweather"/>
                <a:cs typeface="Merriweather"/>
                <a:sym typeface="Merriweather"/>
              </a:rPr>
              <a:t>Burn helium at their core</a:t>
            </a:r>
            <a:endParaRPr sz="1400">
              <a:latin typeface="Merriweather"/>
              <a:ea typeface="Merriweather"/>
              <a:cs typeface="Merriweather"/>
              <a:sym typeface="Merriweather"/>
            </a:endParaRPr>
          </a:p>
          <a:p>
            <a:pPr indent="-317500" lvl="0" marL="457200" rtl="0" algn="l">
              <a:spcBef>
                <a:spcPts val="0"/>
              </a:spcBef>
              <a:spcAft>
                <a:spcPts val="0"/>
              </a:spcAft>
              <a:buSzPts val="1400"/>
              <a:buFont typeface="Merriweather"/>
              <a:buChar char="-"/>
            </a:pPr>
            <a:r>
              <a:rPr lang="en" sz="1400">
                <a:latin typeface="Merriweather"/>
                <a:ea typeface="Merriweather"/>
                <a:cs typeface="Merriweather"/>
                <a:sym typeface="Merriweather"/>
              </a:rPr>
              <a:t>Blue end of the horizontal branch</a:t>
            </a:r>
            <a:endParaRPr sz="1400">
              <a:latin typeface="Merriweather"/>
              <a:ea typeface="Merriweather"/>
              <a:cs typeface="Merriweather"/>
              <a:sym typeface="Merriweather"/>
            </a:endParaRPr>
          </a:p>
          <a:p>
            <a:pPr indent="0" lvl="0" marL="0" rtl="0" algn="l">
              <a:lnSpc>
                <a:spcPct val="200000"/>
              </a:lnSpc>
              <a:spcBef>
                <a:spcPts val="1200"/>
              </a:spcBef>
              <a:spcAft>
                <a:spcPts val="0"/>
              </a:spcAft>
              <a:buNone/>
            </a:pPr>
            <a:r>
              <a:rPr lang="en" sz="1400">
                <a:latin typeface="Merriweather"/>
                <a:ea typeface="Merriweather"/>
                <a:cs typeface="Merriweather"/>
                <a:sym typeface="Merriweather"/>
              </a:rPr>
              <a:t>Kappa opacity mechanism</a:t>
            </a:r>
            <a:endParaRPr sz="1400">
              <a:latin typeface="Merriweather"/>
              <a:ea typeface="Merriweather"/>
              <a:cs typeface="Merriweather"/>
              <a:sym typeface="Merriweather"/>
            </a:endParaRPr>
          </a:p>
          <a:p>
            <a:pPr indent="-317500" lvl="0" marL="457200" rtl="0" algn="l">
              <a:lnSpc>
                <a:spcPct val="115000"/>
              </a:lnSpc>
              <a:spcBef>
                <a:spcPts val="0"/>
              </a:spcBef>
              <a:spcAft>
                <a:spcPts val="0"/>
              </a:spcAft>
              <a:buSzPts val="1400"/>
              <a:buFont typeface="Merriweather"/>
              <a:buChar char="-"/>
            </a:pPr>
            <a:r>
              <a:rPr lang="en" sz="1400">
                <a:latin typeface="Merriweather"/>
                <a:ea typeface="Merriweather"/>
                <a:cs typeface="Merriweather"/>
                <a:sym typeface="Merriweather"/>
              </a:rPr>
              <a:t>as opacity increases with temperature (opposite to what occurs in normal, non-pulsating stars) the star becomes unstable pushing it to where it will then pulsate causing the period we are able to observe</a:t>
            </a:r>
            <a:endParaRPr sz="1400">
              <a:latin typeface="Merriweather"/>
              <a:ea typeface="Merriweather"/>
              <a:cs typeface="Merriweather"/>
              <a:sym typeface="Merriweather"/>
            </a:endParaRPr>
          </a:p>
          <a:p>
            <a:pPr indent="0" lvl="0" marL="0" rtl="0" algn="l">
              <a:lnSpc>
                <a:spcPct val="115000"/>
              </a:lnSpc>
              <a:spcBef>
                <a:spcPts val="0"/>
              </a:spcBef>
              <a:spcAft>
                <a:spcPts val="0"/>
              </a:spcAft>
              <a:buNone/>
            </a:pPr>
            <a:r>
              <a:t/>
            </a:r>
            <a:endParaRPr sz="1400">
              <a:latin typeface="Merriweather"/>
              <a:ea typeface="Merriweather"/>
              <a:cs typeface="Merriweather"/>
              <a:sym typeface="Merriweather"/>
            </a:endParaRPr>
          </a:p>
          <a:p>
            <a:pPr indent="-317500" lvl="0" marL="457200" rtl="0" algn="l">
              <a:lnSpc>
                <a:spcPct val="115000"/>
              </a:lnSpc>
              <a:spcBef>
                <a:spcPts val="0"/>
              </a:spcBef>
              <a:spcAft>
                <a:spcPts val="0"/>
              </a:spcAft>
              <a:buSzPts val="1400"/>
              <a:buFont typeface="Merriweather"/>
              <a:buChar char="-"/>
            </a:pPr>
            <a:r>
              <a:rPr lang="en" sz="1400">
                <a:latin typeface="Merriweather"/>
                <a:ea typeface="Merriweather"/>
                <a:cs typeface="Merriweather"/>
                <a:sym typeface="Merriweather"/>
              </a:rPr>
              <a:t>Areas where pulsations are excited are called instability strips</a:t>
            </a:r>
            <a:endParaRPr sz="1400">
              <a:latin typeface="Merriweather"/>
              <a:ea typeface="Merriweather"/>
              <a:cs typeface="Merriweather"/>
              <a:sym typeface="Merriweather"/>
            </a:endParaRPr>
          </a:p>
        </p:txBody>
      </p:sp>
      <p:pic>
        <p:nvPicPr>
          <p:cNvPr id="79" name="Google Shape;79;p15"/>
          <p:cNvPicPr preferRelativeResize="0"/>
          <p:nvPr/>
        </p:nvPicPr>
        <p:blipFill>
          <a:blip r:embed="rId3">
            <a:alphaModFix/>
          </a:blip>
          <a:stretch>
            <a:fillRect/>
          </a:stretch>
        </p:blipFill>
        <p:spPr>
          <a:xfrm>
            <a:off x="5220150" y="1505701"/>
            <a:ext cx="3414801" cy="3394426"/>
          </a:xfrm>
          <a:prstGeom prst="rect">
            <a:avLst/>
          </a:prstGeom>
          <a:noFill/>
          <a:ln>
            <a:noFill/>
          </a:ln>
        </p:spPr>
      </p:pic>
      <p:sp>
        <p:nvSpPr>
          <p:cNvPr id="80" name="Google Shape;80;p15"/>
          <p:cNvSpPr txBox="1"/>
          <p:nvPr/>
        </p:nvSpPr>
        <p:spPr>
          <a:xfrm>
            <a:off x="5232850" y="4823500"/>
            <a:ext cx="3389400" cy="28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B7B7B7"/>
                </a:solidFill>
                <a:latin typeface="Roboto"/>
                <a:ea typeface="Roboto"/>
                <a:cs typeface="Roboto"/>
                <a:sym typeface="Roboto"/>
              </a:rPr>
              <a:t>Image Credit: Annual Review Astronomy &amp; Astrophysics.</a:t>
            </a:r>
            <a:endParaRPr sz="500">
              <a:solidFill>
                <a:srgbClr val="B7B7B7"/>
              </a:solidFill>
              <a:latin typeface="Merriweather"/>
              <a:ea typeface="Merriweather"/>
              <a:cs typeface="Merriweather"/>
              <a:sym typeface="Merriweather"/>
            </a:endParaRPr>
          </a:p>
        </p:txBody>
      </p:sp>
      <p:sp>
        <p:nvSpPr>
          <p:cNvPr id="81" name="Google Shape;81;p15"/>
          <p:cNvSpPr/>
          <p:nvPr/>
        </p:nvSpPr>
        <p:spPr>
          <a:xfrm>
            <a:off x="5833275" y="2571750"/>
            <a:ext cx="723900" cy="7239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00" y="510450"/>
            <a:ext cx="3844800" cy="277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Target Information</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sz="1900">
                <a:latin typeface="Merriweather Light"/>
                <a:ea typeface="Merriweather Light"/>
                <a:cs typeface="Merriweather Light"/>
                <a:sym typeface="Merriweather Light"/>
              </a:rPr>
              <a:t>Object Name: </a:t>
            </a:r>
            <a:r>
              <a:rPr lang="en" sz="1400">
                <a:latin typeface="Merriweather Light"/>
                <a:ea typeface="Merriweather Light"/>
                <a:cs typeface="Merriweather Light"/>
                <a:sym typeface="Merriweather Light"/>
              </a:rPr>
              <a:t>2M0753+2324</a:t>
            </a:r>
            <a:endParaRPr sz="1400">
              <a:latin typeface="Merriweather Light"/>
              <a:ea typeface="Merriweather Light"/>
              <a:cs typeface="Merriweather Light"/>
              <a:sym typeface="Merriweather Light"/>
            </a:endParaRPr>
          </a:p>
          <a:p>
            <a:pPr indent="0" lvl="0" marL="0" rtl="0" algn="l">
              <a:spcBef>
                <a:spcPts val="0"/>
              </a:spcBef>
              <a:spcAft>
                <a:spcPts val="0"/>
              </a:spcAft>
              <a:buNone/>
            </a:pPr>
            <a:r>
              <a:rPr lang="en" sz="1900">
                <a:latin typeface="Merriweather Light"/>
                <a:ea typeface="Merriweather Light"/>
                <a:cs typeface="Merriweather Light"/>
                <a:sym typeface="Merriweather Light"/>
              </a:rPr>
              <a:t>RA and Dec: </a:t>
            </a:r>
            <a:r>
              <a:rPr lang="en" sz="1200">
                <a:latin typeface="Merriweather Light"/>
                <a:ea typeface="Merriweather Light"/>
                <a:cs typeface="Merriweather Light"/>
                <a:sym typeface="Merriweather Light"/>
              </a:rPr>
              <a:t> </a:t>
            </a:r>
            <a:r>
              <a:rPr lang="en" sz="1400">
                <a:latin typeface="Merriweather Light"/>
                <a:ea typeface="Merriweather Light"/>
                <a:cs typeface="Merriweather Light"/>
                <a:sym typeface="Merriweather Light"/>
              </a:rPr>
              <a:t>07:53:29.1  +23:24:36</a:t>
            </a:r>
            <a:endParaRPr sz="1400">
              <a:latin typeface="Merriweather Light"/>
              <a:ea typeface="Merriweather Light"/>
              <a:cs typeface="Merriweather Light"/>
              <a:sym typeface="Merriweather Light"/>
            </a:endParaRPr>
          </a:p>
          <a:p>
            <a:pPr indent="0" lvl="0" marL="0" rtl="0" algn="l">
              <a:spcBef>
                <a:spcPts val="0"/>
              </a:spcBef>
              <a:spcAft>
                <a:spcPts val="0"/>
              </a:spcAft>
              <a:buNone/>
            </a:pPr>
            <a:r>
              <a:rPr lang="en" sz="1900">
                <a:latin typeface="Merriweather Light"/>
                <a:ea typeface="Merriweather Light"/>
                <a:cs typeface="Merriweather Light"/>
                <a:sym typeface="Merriweather Light"/>
              </a:rPr>
              <a:t>V Magnitude: </a:t>
            </a:r>
            <a:r>
              <a:rPr lang="en" sz="1400">
                <a:latin typeface="Merriweather Light"/>
                <a:ea typeface="Merriweather Light"/>
                <a:cs typeface="Merriweather Light"/>
                <a:sym typeface="Merriweather Light"/>
              </a:rPr>
              <a:t>13.27</a:t>
            </a:r>
            <a:endParaRPr sz="2100">
              <a:latin typeface="Merriweather Light"/>
              <a:ea typeface="Merriweather Light"/>
              <a:cs typeface="Merriweather Light"/>
              <a:sym typeface="Merriweather Light"/>
            </a:endParaRPr>
          </a:p>
          <a:p>
            <a:pPr indent="0" lvl="0" marL="0" rtl="0" algn="l">
              <a:spcBef>
                <a:spcPts val="0"/>
              </a:spcBef>
              <a:spcAft>
                <a:spcPts val="0"/>
              </a:spcAft>
              <a:buNone/>
            </a:pPr>
            <a:r>
              <a:rPr lang="en" sz="1900">
                <a:latin typeface="Merriweather Light"/>
                <a:ea typeface="Merriweather Light"/>
                <a:cs typeface="Merriweather Light"/>
                <a:sym typeface="Merriweather Light"/>
              </a:rPr>
              <a:t>Object Type: </a:t>
            </a:r>
            <a:r>
              <a:rPr lang="en" sz="1400">
                <a:latin typeface="Merriweather Light"/>
                <a:ea typeface="Merriweather Light"/>
                <a:cs typeface="Merriweather Light"/>
                <a:sym typeface="Merriweather Light"/>
              </a:rPr>
              <a:t>Pulsating sdB star</a:t>
            </a:r>
            <a:endParaRPr sz="2100">
              <a:latin typeface="Merriweather Light"/>
              <a:ea typeface="Merriweather Light"/>
              <a:cs typeface="Merriweather Light"/>
              <a:sym typeface="Merriweather Light"/>
            </a:endParaRPr>
          </a:p>
          <a:p>
            <a:pPr indent="0" lvl="0" marL="0" rtl="0" algn="l">
              <a:spcBef>
                <a:spcPts val="0"/>
              </a:spcBef>
              <a:spcAft>
                <a:spcPts val="0"/>
              </a:spcAft>
              <a:buNone/>
            </a:pPr>
            <a:r>
              <a:rPr lang="en" sz="1900">
                <a:latin typeface="Merriweather Light"/>
                <a:ea typeface="Merriweather Light"/>
                <a:cs typeface="Merriweather Light"/>
                <a:sym typeface="Merriweather Light"/>
              </a:rPr>
              <a:t>Viewing Time: </a:t>
            </a:r>
            <a:r>
              <a:rPr lang="en" sz="1400">
                <a:latin typeface="Merriweather Light"/>
                <a:ea typeface="Merriweather Light"/>
                <a:cs typeface="Merriweather Light"/>
                <a:sym typeface="Merriweather Light"/>
              </a:rPr>
              <a:t>March 6-7th ~7pm-11pm (cut short by cloud coverage)</a:t>
            </a:r>
            <a:endParaRPr sz="1400">
              <a:latin typeface="Merriweather Light"/>
              <a:ea typeface="Merriweather Light"/>
              <a:cs typeface="Merriweather Light"/>
              <a:sym typeface="Merriweather Light"/>
            </a:endParaRPr>
          </a:p>
        </p:txBody>
      </p:sp>
      <p:pic>
        <p:nvPicPr>
          <p:cNvPr id="87" name="Google Shape;87;p16" title="Screen Shot 2026-04-22 at 10.14.29 AM.png"/>
          <p:cNvPicPr preferRelativeResize="0"/>
          <p:nvPr/>
        </p:nvPicPr>
        <p:blipFill>
          <a:blip r:embed="rId3">
            <a:alphaModFix/>
          </a:blip>
          <a:stretch>
            <a:fillRect/>
          </a:stretch>
        </p:blipFill>
        <p:spPr>
          <a:xfrm>
            <a:off x="4864300" y="0"/>
            <a:ext cx="3740899" cy="4915424"/>
          </a:xfrm>
          <a:prstGeom prst="rect">
            <a:avLst/>
          </a:prstGeom>
          <a:noFill/>
          <a:ln>
            <a:noFill/>
          </a:ln>
        </p:spPr>
      </p:pic>
      <p:sp>
        <p:nvSpPr>
          <p:cNvPr id="88" name="Google Shape;88;p16"/>
          <p:cNvSpPr txBox="1"/>
          <p:nvPr/>
        </p:nvSpPr>
        <p:spPr>
          <a:xfrm>
            <a:off x="5062100" y="4862475"/>
            <a:ext cx="3345300" cy="22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Merriweather"/>
                <a:ea typeface="Merriweather"/>
                <a:cs typeface="Merriweather"/>
                <a:sym typeface="Merriweather"/>
              </a:rPr>
              <a:t>Finder chart provided by Dr. Green</a:t>
            </a:r>
            <a:endParaRPr sz="700">
              <a:solidFill>
                <a:schemeClr val="dk2"/>
              </a:solidFill>
              <a:latin typeface="Merriweather"/>
              <a:ea typeface="Merriweather"/>
              <a:cs typeface="Merriweather"/>
              <a:sym typeface="Merriweather"/>
            </a:endParaRPr>
          </a:p>
        </p:txBody>
      </p:sp>
      <p:sp>
        <p:nvSpPr>
          <p:cNvPr id="89" name="Google Shape;89;p16"/>
          <p:cNvSpPr txBox="1"/>
          <p:nvPr/>
        </p:nvSpPr>
        <p:spPr>
          <a:xfrm>
            <a:off x="1013400" y="4191600"/>
            <a:ext cx="3143100" cy="790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900">
                <a:solidFill>
                  <a:schemeClr val="lt1"/>
                </a:solidFill>
                <a:latin typeface="Merriweather Light"/>
                <a:ea typeface="Merriweather Light"/>
                <a:cs typeface="Merriweather Light"/>
                <a:sym typeface="Merriweather Light"/>
              </a:rPr>
              <a:t>Telescope</a:t>
            </a:r>
            <a:r>
              <a:rPr lang="en" sz="1900">
                <a:solidFill>
                  <a:schemeClr val="lt1"/>
                </a:solidFill>
                <a:latin typeface="Merriweather Light"/>
                <a:ea typeface="Merriweather Light"/>
                <a:cs typeface="Merriweather Light"/>
                <a:sym typeface="Merriweather Light"/>
              </a:rPr>
              <a:t>: </a:t>
            </a:r>
            <a:r>
              <a:rPr lang="en">
                <a:solidFill>
                  <a:schemeClr val="lt1"/>
                </a:solidFill>
                <a:latin typeface="Merriweather Light"/>
                <a:ea typeface="Merriweather Light"/>
                <a:cs typeface="Merriweather Light"/>
                <a:sym typeface="Merriweather Light"/>
              </a:rPr>
              <a:t>The Steward Observatory 61” Kuiper Telescope</a:t>
            </a:r>
            <a:endParaRPr>
              <a:solidFill>
                <a:schemeClr val="lt1"/>
              </a:solidFill>
              <a:latin typeface="Merriweather Light"/>
              <a:ea typeface="Merriweather Light"/>
              <a:cs typeface="Merriweather Light"/>
              <a:sym typeface="Merriweather Light"/>
            </a:endParaRPr>
          </a:p>
          <a:p>
            <a:pPr indent="0" lvl="0" marL="0" rtl="0" algn="r">
              <a:spcBef>
                <a:spcPts val="0"/>
              </a:spcBef>
              <a:spcAft>
                <a:spcPts val="0"/>
              </a:spcAft>
              <a:buNone/>
            </a:pPr>
            <a:r>
              <a:rPr lang="en">
                <a:solidFill>
                  <a:schemeClr val="lt1"/>
                </a:solidFill>
                <a:latin typeface="Merriweather Light"/>
                <a:ea typeface="Merriweather Light"/>
                <a:cs typeface="Merriweather Light"/>
                <a:sym typeface="Merriweather Light"/>
              </a:rPr>
              <a:t>Mt. Bigelow, Tucson, AZ</a:t>
            </a:r>
            <a:endParaRPr>
              <a:solidFill>
                <a:schemeClr val="lt1"/>
              </a:solidFill>
              <a:latin typeface="Merriweather Light"/>
              <a:ea typeface="Merriweather Light"/>
              <a:cs typeface="Merriweather Light"/>
              <a:sym typeface="Merriweather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Methods/Observations</a:t>
            </a:r>
            <a:endParaRPr b="1"/>
          </a:p>
        </p:txBody>
      </p:sp>
      <p:sp>
        <p:nvSpPr>
          <p:cNvPr id="95" name="Google Shape;95;p17"/>
          <p:cNvSpPr txBox="1"/>
          <p:nvPr>
            <p:ph idx="1" type="body"/>
          </p:nvPr>
        </p:nvSpPr>
        <p:spPr>
          <a:xfrm>
            <a:off x="311725" y="1505700"/>
            <a:ext cx="3999900" cy="34515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SzPts val="935"/>
              <a:buNone/>
            </a:pPr>
            <a:r>
              <a:rPr lang="en" sz="1400">
                <a:latin typeface="Merriweather"/>
                <a:ea typeface="Merriweather"/>
                <a:cs typeface="Merriweather"/>
                <a:sym typeface="Merriweather"/>
              </a:rPr>
              <a:t>→ </a:t>
            </a:r>
            <a:r>
              <a:rPr lang="en" sz="1400">
                <a:latin typeface="Merriweather"/>
                <a:ea typeface="Merriweather"/>
                <a:cs typeface="Merriweather"/>
                <a:sym typeface="Merriweather"/>
              </a:rPr>
              <a:t>By studying how brightness changes over time, more specifically within the pulsation periods of the star we observed, we use the data gathered to make a periodogram. Observing the light curve allows us to  analyze p-modes of the star giving us more information on the stellar structure and/or asteroseismology involving this star. </a:t>
            </a:r>
            <a:endParaRPr sz="1400"/>
          </a:p>
        </p:txBody>
      </p:sp>
      <p:sp>
        <p:nvSpPr>
          <p:cNvPr id="96" name="Google Shape;96;p17"/>
          <p:cNvSpPr txBox="1"/>
          <p:nvPr>
            <p:ph idx="2" type="body"/>
          </p:nvPr>
        </p:nvSpPr>
        <p:spPr>
          <a:xfrm>
            <a:off x="4513325" y="1505700"/>
            <a:ext cx="4319100" cy="34515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b="1" lang="en" sz="1500">
                <a:latin typeface="Merriweather"/>
                <a:ea typeface="Merriweather"/>
                <a:cs typeface="Merriweather"/>
                <a:sym typeface="Merriweather"/>
              </a:rPr>
              <a:t>Steps to reduce data and obtain light curve</a:t>
            </a:r>
            <a:endParaRPr b="1" sz="1500">
              <a:latin typeface="Merriweather"/>
              <a:ea typeface="Merriweather"/>
              <a:cs typeface="Merriweather"/>
              <a:sym typeface="Merriweather"/>
            </a:endParaRPr>
          </a:p>
          <a:p>
            <a:pPr indent="-311150" lvl="0" marL="457200" rtl="0" algn="l">
              <a:lnSpc>
                <a:spcPct val="150000"/>
              </a:lnSpc>
              <a:spcBef>
                <a:spcPts val="1200"/>
              </a:spcBef>
              <a:spcAft>
                <a:spcPts val="0"/>
              </a:spcAft>
              <a:buSzPts val="1300"/>
              <a:buFont typeface="Merriweather"/>
              <a:buAutoNum type="arabicPeriod"/>
            </a:pPr>
            <a:r>
              <a:rPr lang="en">
                <a:latin typeface="Merriweather"/>
                <a:ea typeface="Merriweather"/>
                <a:cs typeface="Merriweather"/>
                <a:sym typeface="Merriweather"/>
              </a:rPr>
              <a:t>Image reduction through flat fielding and bias subtraction</a:t>
            </a:r>
            <a:endParaRPr>
              <a:latin typeface="Merriweather"/>
              <a:ea typeface="Merriweather"/>
              <a:cs typeface="Merriweather"/>
              <a:sym typeface="Merriweather"/>
            </a:endParaRPr>
          </a:p>
          <a:p>
            <a:pPr indent="-311150" lvl="0" marL="457200" rtl="0" algn="l">
              <a:lnSpc>
                <a:spcPct val="150000"/>
              </a:lnSpc>
              <a:spcBef>
                <a:spcPts val="0"/>
              </a:spcBef>
              <a:spcAft>
                <a:spcPts val="0"/>
              </a:spcAft>
              <a:buSzPts val="1300"/>
              <a:buFont typeface="Merriweather"/>
              <a:buAutoNum type="arabicPeriod"/>
            </a:pPr>
            <a:r>
              <a:rPr lang="en">
                <a:latin typeface="Merriweather"/>
                <a:ea typeface="Merriweather"/>
                <a:cs typeface="Merriweather"/>
                <a:sym typeface="Merriweather"/>
              </a:rPr>
              <a:t>Cosmic ray removal (proved unnecessary through recommendation of Dr. Green)</a:t>
            </a:r>
            <a:endParaRPr>
              <a:latin typeface="Merriweather"/>
              <a:ea typeface="Merriweather"/>
              <a:cs typeface="Merriweather"/>
              <a:sym typeface="Merriweather"/>
            </a:endParaRPr>
          </a:p>
          <a:p>
            <a:pPr indent="457200" lvl="0" marL="0" rtl="0" algn="l">
              <a:lnSpc>
                <a:spcPct val="150000"/>
              </a:lnSpc>
              <a:spcBef>
                <a:spcPts val="1200"/>
              </a:spcBef>
              <a:spcAft>
                <a:spcPts val="0"/>
              </a:spcAft>
              <a:buNone/>
            </a:pPr>
            <a:r>
              <a:rPr lang="en" sz="1000">
                <a:latin typeface="Merriweather"/>
                <a:ea typeface="Merriweather"/>
                <a:cs typeface="Merriweather"/>
                <a:sym typeface="Merriweather"/>
              </a:rPr>
              <a:t>NOTE: always a good precaution to take</a:t>
            </a:r>
            <a:endParaRPr sz="1000">
              <a:latin typeface="Merriweather"/>
              <a:ea typeface="Merriweather"/>
              <a:cs typeface="Merriweather"/>
              <a:sym typeface="Merriweather"/>
            </a:endParaRPr>
          </a:p>
          <a:p>
            <a:pPr indent="-311150" lvl="0" marL="457200" rtl="0" algn="l">
              <a:lnSpc>
                <a:spcPct val="150000"/>
              </a:lnSpc>
              <a:spcBef>
                <a:spcPts val="1200"/>
              </a:spcBef>
              <a:spcAft>
                <a:spcPts val="0"/>
              </a:spcAft>
              <a:buSzPts val="1300"/>
              <a:buFont typeface="Merriweather"/>
              <a:buAutoNum type="arabicPeriod"/>
            </a:pPr>
            <a:r>
              <a:rPr lang="en">
                <a:latin typeface="Merriweather"/>
                <a:ea typeface="Merriweather"/>
                <a:cs typeface="Merriweather"/>
                <a:sym typeface="Merriweather"/>
              </a:rPr>
              <a:t>Photometric data reduction</a:t>
            </a:r>
            <a:endParaRPr sz="1300">
              <a:latin typeface="Merriweather"/>
              <a:ea typeface="Merriweather"/>
              <a:cs typeface="Merriweather"/>
              <a:sym typeface="Merriweather"/>
            </a:endParaRPr>
          </a:p>
          <a:p>
            <a:pPr indent="-311150" lvl="0" marL="457200" rtl="0" algn="l">
              <a:lnSpc>
                <a:spcPct val="150000"/>
              </a:lnSpc>
              <a:spcBef>
                <a:spcPts val="0"/>
              </a:spcBef>
              <a:spcAft>
                <a:spcPts val="0"/>
              </a:spcAft>
              <a:buSzPts val="1300"/>
              <a:buFont typeface="Merriweather"/>
              <a:buAutoNum type="arabicPeriod"/>
            </a:pPr>
            <a:r>
              <a:rPr lang="en">
                <a:latin typeface="Merriweather"/>
                <a:ea typeface="Merriweather"/>
                <a:cs typeface="Merriweather"/>
                <a:sym typeface="Merriweather"/>
              </a:rPr>
              <a:t>Obtain Lomb-Scargle periodogram</a:t>
            </a:r>
            <a:endParaRPr sz="1300">
              <a:latin typeface="Merriweather"/>
              <a:ea typeface="Merriweather"/>
              <a:cs typeface="Merriweather"/>
              <a:sym typeface="Merriweath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Pre- and Post-Reduction Starfields</a:t>
            </a:r>
            <a:endParaRPr/>
          </a:p>
        </p:txBody>
      </p:sp>
      <p:pic>
        <p:nvPicPr>
          <p:cNvPr id="102" name="Google Shape;102;p18"/>
          <p:cNvPicPr preferRelativeResize="0"/>
          <p:nvPr/>
        </p:nvPicPr>
        <p:blipFill rotWithShape="1">
          <a:blip r:embed="rId3">
            <a:alphaModFix/>
          </a:blip>
          <a:srcRect b="0" l="0" r="18026" t="0"/>
          <a:stretch/>
        </p:blipFill>
        <p:spPr>
          <a:xfrm>
            <a:off x="453087" y="1527490"/>
            <a:ext cx="3831348" cy="3342275"/>
          </a:xfrm>
          <a:prstGeom prst="rect">
            <a:avLst/>
          </a:prstGeom>
          <a:noFill/>
          <a:ln>
            <a:noFill/>
          </a:ln>
        </p:spPr>
      </p:pic>
      <p:pic>
        <p:nvPicPr>
          <p:cNvPr id="103" name="Google Shape;103;p18"/>
          <p:cNvPicPr preferRelativeResize="0"/>
          <p:nvPr/>
        </p:nvPicPr>
        <p:blipFill rotWithShape="1">
          <a:blip r:embed="rId4">
            <a:alphaModFix/>
          </a:blip>
          <a:srcRect b="0" l="5723" r="0" t="0"/>
          <a:stretch/>
        </p:blipFill>
        <p:spPr>
          <a:xfrm>
            <a:off x="4284422" y="1527490"/>
            <a:ext cx="4406490" cy="3342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Analysis and Photometry</a:t>
            </a:r>
            <a:endParaRPr/>
          </a:p>
        </p:txBody>
      </p:sp>
      <p:sp>
        <p:nvSpPr>
          <p:cNvPr id="109" name="Google Shape;109;p19"/>
          <p:cNvSpPr txBox="1"/>
          <p:nvPr>
            <p:ph idx="1" type="body"/>
          </p:nvPr>
        </p:nvSpPr>
        <p:spPr>
          <a:xfrm>
            <a:off x="311700" y="1505700"/>
            <a:ext cx="3999900" cy="3076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latin typeface="Merriweather"/>
                <a:ea typeface="Merriweather"/>
                <a:cs typeface="Merriweather"/>
                <a:sym typeface="Merriweather"/>
              </a:rPr>
              <a:t>High-brightness pulsating variable target star, large number of dispersed reference stars, atmospheric noise: </a:t>
            </a:r>
            <a:r>
              <a:rPr lang="en">
                <a:solidFill>
                  <a:schemeClr val="lt2"/>
                </a:solidFill>
                <a:latin typeface="Merriweather"/>
                <a:ea typeface="Merriweather"/>
                <a:cs typeface="Merriweather"/>
                <a:sym typeface="Merriweather"/>
              </a:rPr>
              <a:t>r</a:t>
            </a:r>
            <a:r>
              <a:rPr lang="en">
                <a:solidFill>
                  <a:schemeClr val="lt2"/>
                </a:solidFill>
                <a:latin typeface="Merriweather"/>
                <a:ea typeface="Merriweather"/>
                <a:cs typeface="Merriweather"/>
                <a:sym typeface="Merriweather"/>
              </a:rPr>
              <a:t>elative photometry</a:t>
            </a:r>
            <a:endParaRPr>
              <a:solidFill>
                <a:schemeClr val="lt2"/>
              </a:solidFill>
              <a:latin typeface="Merriweather"/>
              <a:ea typeface="Merriweather"/>
              <a:cs typeface="Merriweather"/>
              <a:sym typeface="Merriweather"/>
            </a:endParaRPr>
          </a:p>
          <a:p>
            <a:pPr indent="0" lvl="0" marL="0" rtl="0" algn="l">
              <a:spcBef>
                <a:spcPts val="1200"/>
              </a:spcBef>
              <a:spcAft>
                <a:spcPts val="0"/>
              </a:spcAft>
              <a:buNone/>
            </a:pPr>
            <a:r>
              <a:rPr lang="en">
                <a:latin typeface="Merriweather"/>
                <a:ea typeface="Merriweather"/>
                <a:cs typeface="Merriweather"/>
                <a:sym typeface="Merriweather"/>
              </a:rPr>
              <a:t>Co-wrote 3 pipelines for cross-consistency and implementation of different techniques:</a:t>
            </a:r>
            <a:endParaRPr>
              <a:latin typeface="Merriweather"/>
              <a:ea typeface="Merriweather"/>
              <a:cs typeface="Merriweather"/>
              <a:sym typeface="Merriweather"/>
            </a:endParaRPr>
          </a:p>
          <a:p>
            <a:pPr indent="-311150" lvl="0" marL="457200" rtl="0" algn="l">
              <a:spcBef>
                <a:spcPts val="0"/>
              </a:spcBef>
              <a:spcAft>
                <a:spcPts val="0"/>
              </a:spcAft>
              <a:buSzPts val="1300"/>
              <a:buFont typeface="Merriweather"/>
              <a:buChar char="●"/>
            </a:pPr>
            <a:r>
              <a:rPr lang="en">
                <a:latin typeface="Merriweather"/>
                <a:ea typeface="Merriweather"/>
                <a:cs typeface="Merriweather"/>
                <a:sym typeface="Merriweather"/>
              </a:rPr>
              <a:t>Heuristic</a:t>
            </a:r>
            <a:r>
              <a:rPr lang="en">
                <a:latin typeface="Merriweather"/>
                <a:ea typeface="Merriweather"/>
                <a:cs typeface="Merriweather"/>
                <a:sym typeface="Merriweather"/>
              </a:rPr>
              <a:t> or optimized aperture parameters?</a:t>
            </a:r>
            <a:endParaRPr>
              <a:latin typeface="Merriweather"/>
              <a:ea typeface="Merriweather"/>
              <a:cs typeface="Merriweather"/>
              <a:sym typeface="Merriweather"/>
            </a:endParaRPr>
          </a:p>
          <a:p>
            <a:pPr indent="-311150" lvl="0" marL="457200" rtl="0" algn="l">
              <a:spcBef>
                <a:spcPts val="0"/>
              </a:spcBef>
              <a:spcAft>
                <a:spcPts val="0"/>
              </a:spcAft>
              <a:buSzPts val="1300"/>
              <a:buFont typeface="Merriweather"/>
              <a:buChar char="●"/>
            </a:pPr>
            <a:r>
              <a:rPr lang="en">
                <a:latin typeface="Merriweather"/>
                <a:ea typeface="Merriweather"/>
                <a:cs typeface="Merriweather"/>
                <a:sym typeface="Merriweather"/>
              </a:rPr>
              <a:t>Sources of noise?</a:t>
            </a:r>
            <a:endParaRPr>
              <a:latin typeface="Merriweather"/>
              <a:ea typeface="Merriweather"/>
              <a:cs typeface="Merriweather"/>
              <a:sym typeface="Merriweather"/>
            </a:endParaRPr>
          </a:p>
          <a:p>
            <a:pPr indent="-311150" lvl="0" marL="457200" rtl="0" algn="l">
              <a:spcBef>
                <a:spcPts val="0"/>
              </a:spcBef>
              <a:spcAft>
                <a:spcPts val="0"/>
              </a:spcAft>
              <a:buSzPts val="1300"/>
              <a:buFont typeface="Merriweather"/>
              <a:buChar char="●"/>
            </a:pPr>
            <a:r>
              <a:rPr lang="en">
                <a:latin typeface="Merriweather"/>
                <a:ea typeface="Merriweather"/>
                <a:cs typeface="Merriweather"/>
                <a:sym typeface="Merriweather"/>
              </a:rPr>
              <a:t>How should we extract frequencies?</a:t>
            </a:r>
            <a:endParaRPr>
              <a:latin typeface="Merriweather"/>
              <a:ea typeface="Merriweather"/>
              <a:cs typeface="Merriweather"/>
              <a:sym typeface="Merriweather"/>
            </a:endParaRPr>
          </a:p>
          <a:p>
            <a:pPr indent="0" lvl="0" marL="0" rtl="0" algn="l">
              <a:spcBef>
                <a:spcPts val="1000"/>
              </a:spcBef>
              <a:spcAft>
                <a:spcPts val="0"/>
              </a:spcAft>
              <a:buNone/>
            </a:pPr>
            <a:r>
              <a:rPr lang="en">
                <a:latin typeface="Merriweather"/>
                <a:ea typeface="Merriweather"/>
                <a:cs typeface="Merriweather"/>
                <a:sym typeface="Merriweather"/>
              </a:rPr>
              <a:t>Final result is Lomb-Scargle (mildly irregular observations) periodogram of normalized relative stellar flux</a:t>
            </a:r>
            <a:endParaRPr>
              <a:latin typeface="Merriweather"/>
              <a:ea typeface="Merriweather"/>
              <a:cs typeface="Merriweather"/>
              <a:sym typeface="Merriweather"/>
            </a:endParaRPr>
          </a:p>
        </p:txBody>
      </p:sp>
      <p:pic>
        <p:nvPicPr>
          <p:cNvPr id="110" name="Google Shape;110;p19"/>
          <p:cNvPicPr preferRelativeResize="0"/>
          <p:nvPr/>
        </p:nvPicPr>
        <p:blipFill>
          <a:blip r:embed="rId3">
            <a:alphaModFix/>
          </a:blip>
          <a:stretch>
            <a:fillRect/>
          </a:stretch>
        </p:blipFill>
        <p:spPr>
          <a:xfrm>
            <a:off x="4464000" y="1277025"/>
            <a:ext cx="4525701" cy="3714075"/>
          </a:xfrm>
          <a:prstGeom prst="rect">
            <a:avLst/>
          </a:prstGeom>
          <a:noFill/>
          <a:ln>
            <a:noFill/>
          </a:ln>
        </p:spPr>
      </p:pic>
      <p:sp>
        <p:nvSpPr>
          <p:cNvPr id="111" name="Google Shape;111;p19"/>
          <p:cNvSpPr txBox="1"/>
          <p:nvPr/>
        </p:nvSpPr>
        <p:spPr>
          <a:xfrm>
            <a:off x="5287600" y="4821217"/>
            <a:ext cx="2878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latin typeface="Roboto"/>
                <a:ea typeface="Roboto"/>
                <a:cs typeface="Roboto"/>
                <a:sym typeface="Roboto"/>
              </a:rPr>
              <a:t>X (pixel #)</a:t>
            </a:r>
            <a:endParaRPr sz="1000">
              <a:solidFill>
                <a:schemeClr val="dk2"/>
              </a:solidFill>
              <a:latin typeface="Roboto"/>
              <a:ea typeface="Roboto"/>
              <a:cs typeface="Roboto"/>
              <a:sym typeface="Roboto"/>
            </a:endParaRPr>
          </a:p>
        </p:txBody>
      </p:sp>
      <p:sp>
        <p:nvSpPr>
          <p:cNvPr id="112" name="Google Shape;112;p19"/>
          <p:cNvSpPr txBox="1"/>
          <p:nvPr/>
        </p:nvSpPr>
        <p:spPr>
          <a:xfrm rot="-5400000">
            <a:off x="3001600" y="2907271"/>
            <a:ext cx="2878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dk2"/>
                </a:solidFill>
                <a:latin typeface="Roboto"/>
                <a:ea typeface="Roboto"/>
                <a:cs typeface="Roboto"/>
                <a:sym typeface="Roboto"/>
              </a:rPr>
              <a:t>Y</a:t>
            </a:r>
            <a:r>
              <a:rPr lang="en" sz="1000">
                <a:solidFill>
                  <a:schemeClr val="dk2"/>
                </a:solidFill>
                <a:latin typeface="Roboto"/>
                <a:ea typeface="Roboto"/>
                <a:cs typeface="Roboto"/>
                <a:sym typeface="Roboto"/>
              </a:rPr>
              <a:t> (pixel #)</a:t>
            </a:r>
            <a:endParaRPr sz="1000">
              <a:solidFill>
                <a:schemeClr val="dk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Can We Trust Our </a:t>
            </a:r>
            <a:r>
              <a:rPr lang="en"/>
              <a:t>Heuristics</a:t>
            </a:r>
            <a:r>
              <a:rPr lang="en"/>
              <a:t>?</a:t>
            </a:r>
            <a:endParaRPr/>
          </a:p>
        </p:txBody>
      </p:sp>
      <p:sp>
        <p:nvSpPr>
          <p:cNvPr id="118" name="Google Shape;118;p20"/>
          <p:cNvSpPr txBox="1"/>
          <p:nvPr>
            <p:ph idx="1" type="body"/>
          </p:nvPr>
        </p:nvSpPr>
        <p:spPr>
          <a:xfrm>
            <a:off x="474025" y="2304700"/>
            <a:ext cx="3323100" cy="181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Merriweather"/>
                <a:ea typeface="Merriweather"/>
                <a:cs typeface="Merriweather"/>
                <a:sym typeface="Merriweather"/>
              </a:rPr>
              <a:t>We have a theoretical stellar pixel position for each circled star in our finder chart and average calibratory FWHMs from our observing run - we implement a recommended aperture radius of 2.25xFWHM, but are these accurate?</a:t>
            </a:r>
            <a:endParaRPr>
              <a:latin typeface="Merriweather"/>
              <a:ea typeface="Merriweather"/>
              <a:cs typeface="Merriweather"/>
              <a:sym typeface="Merriweather"/>
            </a:endParaRPr>
          </a:p>
        </p:txBody>
      </p:sp>
      <p:pic>
        <p:nvPicPr>
          <p:cNvPr id="119" name="Google Shape;119;p20"/>
          <p:cNvPicPr preferRelativeResize="0"/>
          <p:nvPr/>
        </p:nvPicPr>
        <p:blipFill>
          <a:blip r:embed="rId3">
            <a:alphaModFix/>
          </a:blip>
          <a:stretch>
            <a:fillRect/>
          </a:stretch>
        </p:blipFill>
        <p:spPr>
          <a:xfrm>
            <a:off x="3955539" y="1505700"/>
            <a:ext cx="4564326" cy="3408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Good is our Flux Resolution?</a:t>
            </a:r>
            <a:endParaRPr/>
          </a:p>
        </p:txBody>
      </p:sp>
      <p:pic>
        <p:nvPicPr>
          <p:cNvPr id="125" name="Google Shape;125;p21"/>
          <p:cNvPicPr preferRelativeResize="0"/>
          <p:nvPr/>
        </p:nvPicPr>
        <p:blipFill rotWithShape="1">
          <a:blip r:embed="rId3">
            <a:alphaModFix/>
          </a:blip>
          <a:srcRect b="0" l="0" r="49382" t="50010"/>
          <a:stretch/>
        </p:blipFill>
        <p:spPr>
          <a:xfrm>
            <a:off x="4788151" y="1511486"/>
            <a:ext cx="3340129" cy="3298825"/>
          </a:xfrm>
          <a:prstGeom prst="rect">
            <a:avLst/>
          </a:prstGeom>
          <a:noFill/>
          <a:ln>
            <a:noFill/>
          </a:ln>
        </p:spPr>
      </p:pic>
      <p:pic>
        <p:nvPicPr>
          <p:cNvPr id="126" name="Google Shape;126;p21"/>
          <p:cNvPicPr preferRelativeResize="0"/>
          <p:nvPr/>
        </p:nvPicPr>
        <p:blipFill rotWithShape="1">
          <a:blip r:embed="rId3">
            <a:alphaModFix/>
          </a:blip>
          <a:srcRect b="50000" l="50367" r="0" t="0"/>
          <a:stretch/>
        </p:blipFill>
        <p:spPr>
          <a:xfrm>
            <a:off x="744239" y="1484650"/>
            <a:ext cx="3274625" cy="3298825"/>
          </a:xfrm>
          <a:prstGeom prst="rect">
            <a:avLst/>
          </a:prstGeom>
          <a:noFill/>
          <a:ln>
            <a:noFill/>
          </a:ln>
        </p:spPr>
      </p:pic>
      <p:sp>
        <p:nvSpPr>
          <p:cNvPr id="127" name="Google Shape;127;p21"/>
          <p:cNvSpPr txBox="1"/>
          <p:nvPr/>
        </p:nvSpPr>
        <p:spPr>
          <a:xfrm rot="-5400000">
            <a:off x="-171800" y="2980150"/>
            <a:ext cx="1524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Roboto"/>
                <a:ea typeface="Roboto"/>
                <a:cs typeface="Roboto"/>
                <a:sym typeface="Roboto"/>
              </a:rPr>
              <a:t>Fractional (Normalized) Flux</a:t>
            </a:r>
            <a:endParaRPr sz="800">
              <a:solidFill>
                <a:schemeClr val="dk1"/>
              </a:solidFill>
              <a:latin typeface="Roboto"/>
              <a:ea typeface="Roboto"/>
              <a:cs typeface="Roboto"/>
              <a:sym typeface="Roboto"/>
            </a:endParaRPr>
          </a:p>
        </p:txBody>
      </p:sp>
      <p:sp>
        <p:nvSpPr>
          <p:cNvPr id="128" name="Google Shape;128;p21"/>
          <p:cNvSpPr txBox="1"/>
          <p:nvPr/>
        </p:nvSpPr>
        <p:spPr>
          <a:xfrm>
            <a:off x="1676581" y="4640352"/>
            <a:ext cx="1524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Roboto"/>
                <a:ea typeface="Roboto"/>
                <a:cs typeface="Roboto"/>
                <a:sym typeface="Roboto"/>
              </a:rPr>
              <a:t>HJD</a:t>
            </a:r>
            <a:endParaRPr sz="800">
              <a:solidFill>
                <a:schemeClr val="dk1"/>
              </a:solidFill>
              <a:latin typeface="Roboto"/>
              <a:ea typeface="Roboto"/>
              <a:cs typeface="Roboto"/>
              <a:sym typeface="Roboto"/>
            </a:endParaRPr>
          </a:p>
        </p:txBody>
      </p:sp>
      <p:sp>
        <p:nvSpPr>
          <p:cNvPr id="129" name="Google Shape;129;p21"/>
          <p:cNvSpPr txBox="1"/>
          <p:nvPr/>
        </p:nvSpPr>
        <p:spPr>
          <a:xfrm>
            <a:off x="5809272" y="4640352"/>
            <a:ext cx="1524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Roboto"/>
                <a:ea typeface="Roboto"/>
                <a:cs typeface="Roboto"/>
                <a:sym typeface="Roboto"/>
              </a:rPr>
              <a:t>HJD</a:t>
            </a:r>
            <a:endParaRPr sz="800">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the Quality of our Frequency Data?</a:t>
            </a:r>
            <a:endParaRPr/>
          </a:p>
        </p:txBody>
      </p:sp>
      <p:sp>
        <p:nvSpPr>
          <p:cNvPr id="135" name="Google Shape;135;p22"/>
          <p:cNvSpPr txBox="1"/>
          <p:nvPr>
            <p:ph idx="1" type="body"/>
          </p:nvPr>
        </p:nvSpPr>
        <p:spPr>
          <a:xfrm>
            <a:off x="311700" y="1505700"/>
            <a:ext cx="8520600" cy="7701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1200"/>
              </a:spcAft>
              <a:buNone/>
            </a:pPr>
            <a:r>
              <a:rPr lang="en">
                <a:latin typeface="Merriweather"/>
                <a:ea typeface="Merriweather"/>
                <a:cs typeface="Merriweather"/>
                <a:sym typeface="Merriweather"/>
              </a:rPr>
              <a:t>Irregularly sampled data can extract frequencies far in excess of the expected nyquist frequency for an equivalent Fourier transform (up to the LCM of every spacing between every data point), but has worse-defined errors and confidence. Our data is likely pseudo-periodic (in terms of aliasing and accessible frequency space constraints)</a:t>
            </a:r>
            <a:endParaRPr>
              <a:latin typeface="Merriweather"/>
              <a:ea typeface="Merriweather"/>
              <a:cs typeface="Merriweather"/>
              <a:sym typeface="Merriweather"/>
            </a:endParaRPr>
          </a:p>
        </p:txBody>
      </p:sp>
      <p:pic>
        <p:nvPicPr>
          <p:cNvPr id="136" name="Google Shape;136;p22"/>
          <p:cNvPicPr preferRelativeResize="0"/>
          <p:nvPr/>
        </p:nvPicPr>
        <p:blipFill>
          <a:blip r:embed="rId3">
            <a:alphaModFix/>
          </a:blip>
          <a:stretch>
            <a:fillRect/>
          </a:stretch>
        </p:blipFill>
        <p:spPr>
          <a:xfrm>
            <a:off x="812657" y="2275800"/>
            <a:ext cx="3518625" cy="2708025"/>
          </a:xfrm>
          <a:prstGeom prst="rect">
            <a:avLst/>
          </a:prstGeom>
          <a:noFill/>
          <a:ln>
            <a:noFill/>
          </a:ln>
        </p:spPr>
      </p:pic>
      <p:pic>
        <p:nvPicPr>
          <p:cNvPr id="137" name="Google Shape;137;p22"/>
          <p:cNvPicPr preferRelativeResize="0"/>
          <p:nvPr/>
        </p:nvPicPr>
        <p:blipFill>
          <a:blip r:embed="rId4">
            <a:alphaModFix/>
          </a:blip>
          <a:stretch>
            <a:fillRect/>
          </a:stretch>
        </p:blipFill>
        <p:spPr>
          <a:xfrm>
            <a:off x="5010316" y="2407291"/>
            <a:ext cx="3518625" cy="2612309"/>
          </a:xfrm>
          <a:prstGeom prst="rect">
            <a:avLst/>
          </a:prstGeom>
          <a:noFill/>
          <a:ln>
            <a:noFill/>
          </a:ln>
        </p:spPr>
      </p:pic>
      <p:sp>
        <p:nvSpPr>
          <p:cNvPr id="138" name="Google Shape;138;p22"/>
          <p:cNvSpPr txBox="1"/>
          <p:nvPr/>
        </p:nvSpPr>
        <p:spPr>
          <a:xfrm>
            <a:off x="1774979" y="4774530"/>
            <a:ext cx="1524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Roboto"/>
                <a:ea typeface="Roboto"/>
                <a:cs typeface="Roboto"/>
                <a:sym typeface="Roboto"/>
              </a:rPr>
              <a:t>HJD</a:t>
            </a:r>
            <a:endParaRPr sz="800">
              <a:solidFill>
                <a:schemeClr val="dk1"/>
              </a:solidFill>
              <a:latin typeface="Roboto"/>
              <a:ea typeface="Roboto"/>
              <a:cs typeface="Roboto"/>
              <a:sym typeface="Roboto"/>
            </a:endParaRPr>
          </a:p>
        </p:txBody>
      </p:sp>
      <p:sp>
        <p:nvSpPr>
          <p:cNvPr id="139" name="Google Shape;139;p22"/>
          <p:cNvSpPr txBox="1"/>
          <p:nvPr/>
        </p:nvSpPr>
        <p:spPr>
          <a:xfrm>
            <a:off x="6118379" y="4792420"/>
            <a:ext cx="1524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Roboto"/>
                <a:ea typeface="Roboto"/>
                <a:cs typeface="Roboto"/>
                <a:sym typeface="Roboto"/>
              </a:rPr>
              <a:t>HJD</a:t>
            </a:r>
            <a:endParaRPr sz="800">
              <a:solidFill>
                <a:schemeClr val="dk1"/>
              </a:solidFill>
              <a:latin typeface="Roboto"/>
              <a:ea typeface="Roboto"/>
              <a:cs typeface="Roboto"/>
              <a:sym typeface="Roboto"/>
            </a:endParaRPr>
          </a:p>
        </p:txBody>
      </p:sp>
      <p:sp>
        <p:nvSpPr>
          <p:cNvPr id="140" name="Google Shape;140;p22"/>
          <p:cNvSpPr txBox="1"/>
          <p:nvPr/>
        </p:nvSpPr>
        <p:spPr>
          <a:xfrm rot="-5400000">
            <a:off x="-55512" y="3364794"/>
            <a:ext cx="1524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Roboto"/>
                <a:ea typeface="Roboto"/>
                <a:cs typeface="Roboto"/>
                <a:sym typeface="Roboto"/>
              </a:rPr>
              <a:t>Time Differential (s)</a:t>
            </a:r>
            <a:endParaRPr sz="800">
              <a:solidFill>
                <a:schemeClr val="dk1"/>
              </a:solidFill>
              <a:latin typeface="Roboto"/>
              <a:ea typeface="Roboto"/>
              <a:cs typeface="Roboto"/>
              <a:sym typeface="Roboto"/>
            </a:endParaRPr>
          </a:p>
        </p:txBody>
      </p:sp>
      <p:sp>
        <p:nvSpPr>
          <p:cNvPr id="141" name="Google Shape;141;p22"/>
          <p:cNvSpPr txBox="1"/>
          <p:nvPr/>
        </p:nvSpPr>
        <p:spPr>
          <a:xfrm rot="-5400000">
            <a:off x="4157685" y="3418797"/>
            <a:ext cx="1524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solidFill>
                  <a:schemeClr val="dk1"/>
                </a:solidFill>
                <a:latin typeface="Roboto"/>
                <a:ea typeface="Roboto"/>
                <a:cs typeface="Roboto"/>
                <a:sym typeface="Roboto"/>
              </a:rPr>
              <a:t>Fractional Amplitude</a:t>
            </a:r>
            <a:endParaRPr sz="800">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S/N of Target Over Time</a:t>
            </a:r>
            <a:endParaRPr/>
          </a:p>
        </p:txBody>
      </p:sp>
      <p:pic>
        <p:nvPicPr>
          <p:cNvPr id="147" name="Google Shape;147;p23" title="SNR_2m0753.png"/>
          <p:cNvPicPr preferRelativeResize="0"/>
          <p:nvPr/>
        </p:nvPicPr>
        <p:blipFill>
          <a:blip r:embed="rId3">
            <a:alphaModFix/>
          </a:blip>
          <a:stretch>
            <a:fillRect/>
          </a:stretch>
        </p:blipFill>
        <p:spPr>
          <a:xfrm>
            <a:off x="1141700" y="1277025"/>
            <a:ext cx="6860643" cy="3866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Raw Light Curves</a:t>
            </a:r>
            <a:endParaRPr/>
          </a:p>
        </p:txBody>
      </p:sp>
      <p:pic>
        <p:nvPicPr>
          <p:cNvPr id="153" name="Google Shape;153;p24" title="rawflux_refandtarget.png"/>
          <p:cNvPicPr preferRelativeResize="0"/>
          <p:nvPr/>
        </p:nvPicPr>
        <p:blipFill>
          <a:blip r:embed="rId3">
            <a:alphaModFix/>
          </a:blip>
          <a:stretch>
            <a:fillRect/>
          </a:stretch>
        </p:blipFill>
        <p:spPr>
          <a:xfrm>
            <a:off x="5196575" y="1370775"/>
            <a:ext cx="3760775" cy="3687000"/>
          </a:xfrm>
          <a:prstGeom prst="rect">
            <a:avLst/>
          </a:prstGeom>
          <a:noFill/>
          <a:ln>
            <a:noFill/>
          </a:ln>
        </p:spPr>
      </p:pic>
      <p:pic>
        <p:nvPicPr>
          <p:cNvPr id="154" name="Google Shape;154;p24" title="raw_light_curve_2m0753.png"/>
          <p:cNvPicPr preferRelativeResize="0"/>
          <p:nvPr/>
        </p:nvPicPr>
        <p:blipFill>
          <a:blip r:embed="rId4">
            <a:alphaModFix/>
          </a:blip>
          <a:stretch>
            <a:fillRect/>
          </a:stretch>
        </p:blipFill>
        <p:spPr>
          <a:xfrm>
            <a:off x="140925" y="1869838"/>
            <a:ext cx="4864026" cy="26888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Normalized Light Curve</a:t>
            </a:r>
            <a:endParaRPr/>
          </a:p>
        </p:txBody>
      </p:sp>
      <p:pic>
        <p:nvPicPr>
          <p:cNvPr id="160" name="Google Shape;160;p25" title="normalized_light_curve_2m0753.png"/>
          <p:cNvPicPr preferRelativeResize="0"/>
          <p:nvPr/>
        </p:nvPicPr>
        <p:blipFill>
          <a:blip r:embed="rId3">
            <a:alphaModFix/>
          </a:blip>
          <a:stretch>
            <a:fillRect/>
          </a:stretch>
        </p:blipFill>
        <p:spPr>
          <a:xfrm>
            <a:off x="70450" y="2040325"/>
            <a:ext cx="4042001" cy="2002601"/>
          </a:xfrm>
          <a:prstGeom prst="rect">
            <a:avLst/>
          </a:prstGeom>
          <a:noFill/>
          <a:ln>
            <a:noFill/>
          </a:ln>
        </p:spPr>
      </p:pic>
      <p:pic>
        <p:nvPicPr>
          <p:cNvPr id="161" name="Google Shape;161;p25" title="zoomed_normalized_light_curve_2m0753.png"/>
          <p:cNvPicPr preferRelativeResize="0"/>
          <p:nvPr/>
        </p:nvPicPr>
        <p:blipFill>
          <a:blip r:embed="rId4">
            <a:alphaModFix/>
          </a:blip>
          <a:stretch>
            <a:fillRect/>
          </a:stretch>
        </p:blipFill>
        <p:spPr>
          <a:xfrm>
            <a:off x="4309775" y="2040325"/>
            <a:ext cx="4745861" cy="2002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(Detrended) Normalized Light Curve</a:t>
            </a:r>
            <a:endParaRPr/>
          </a:p>
        </p:txBody>
      </p:sp>
      <p:pic>
        <p:nvPicPr>
          <p:cNvPr id="167" name="Google Shape;167;p26" title="detrended_normalized_lightcurve.png"/>
          <p:cNvPicPr preferRelativeResize="0"/>
          <p:nvPr/>
        </p:nvPicPr>
        <p:blipFill>
          <a:blip r:embed="rId3">
            <a:alphaModFix/>
          </a:blip>
          <a:stretch>
            <a:fillRect/>
          </a:stretch>
        </p:blipFill>
        <p:spPr>
          <a:xfrm>
            <a:off x="1668637" y="1290225"/>
            <a:ext cx="5806776" cy="3853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Periodograms</a:t>
            </a:r>
            <a:endParaRPr/>
          </a:p>
        </p:txBody>
      </p:sp>
      <p:sp>
        <p:nvSpPr>
          <p:cNvPr id="173" name="Google Shape;173;p27"/>
          <p:cNvSpPr txBox="1"/>
          <p:nvPr>
            <p:ph idx="1" type="body"/>
          </p:nvPr>
        </p:nvSpPr>
        <p:spPr>
          <a:xfrm>
            <a:off x="311700" y="1505700"/>
            <a:ext cx="3999900" cy="345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Merriweather"/>
                <a:ea typeface="Merriweather"/>
                <a:cs typeface="Merriweather"/>
                <a:sym typeface="Merriweather"/>
              </a:rPr>
              <a:t>Raw Periodogram</a:t>
            </a:r>
            <a:endParaRPr>
              <a:latin typeface="Merriweather"/>
              <a:ea typeface="Merriweather"/>
              <a:cs typeface="Merriweather"/>
              <a:sym typeface="Merriweather"/>
            </a:endParaRPr>
          </a:p>
          <a:p>
            <a:pPr indent="-311150" lvl="0" marL="457200" rtl="0" algn="l">
              <a:spcBef>
                <a:spcPts val="1200"/>
              </a:spcBef>
              <a:spcAft>
                <a:spcPts val="0"/>
              </a:spcAft>
              <a:buSzPts val="1300"/>
              <a:buFont typeface="Merriweather"/>
              <a:buChar char="●"/>
            </a:pPr>
            <a:r>
              <a:rPr lang="en">
                <a:latin typeface="Merriweather"/>
                <a:ea typeface="Merriweather"/>
                <a:cs typeface="Merriweather"/>
                <a:sym typeface="Merriweather"/>
              </a:rPr>
              <a:t>Many peaks, including above cut-off frequency</a:t>
            </a:r>
            <a:endParaRPr>
              <a:latin typeface="Merriweather"/>
              <a:ea typeface="Merriweather"/>
              <a:cs typeface="Merriweather"/>
              <a:sym typeface="Merriweather"/>
            </a:endParaRPr>
          </a:p>
          <a:p>
            <a:pPr indent="-311150" lvl="0" marL="457200" rtl="0" algn="l">
              <a:spcBef>
                <a:spcPts val="0"/>
              </a:spcBef>
              <a:spcAft>
                <a:spcPts val="0"/>
              </a:spcAft>
              <a:buSzPts val="1300"/>
              <a:buFont typeface="Merriweather"/>
              <a:buChar char="●"/>
            </a:pPr>
            <a:r>
              <a:rPr lang="en">
                <a:latin typeface="Merriweather"/>
                <a:ea typeface="Merriweather"/>
                <a:cs typeface="Merriweather"/>
                <a:sym typeface="Merriweather"/>
              </a:rPr>
              <a:t>High-frequency signals are not physically reliable</a:t>
            </a:r>
            <a:endParaRPr>
              <a:latin typeface="Merriweather"/>
              <a:ea typeface="Merriweather"/>
              <a:cs typeface="Merriweather"/>
              <a:sym typeface="Merriweather"/>
            </a:endParaRPr>
          </a:p>
          <a:p>
            <a:pPr indent="-311150" lvl="0" marL="457200" rtl="0" algn="l">
              <a:spcBef>
                <a:spcPts val="0"/>
              </a:spcBef>
              <a:spcAft>
                <a:spcPts val="0"/>
              </a:spcAft>
              <a:buSzPts val="1300"/>
              <a:buFont typeface="Merriweather"/>
              <a:buChar char="●"/>
            </a:pPr>
            <a:r>
              <a:rPr lang="en">
                <a:latin typeface="Merriweather"/>
                <a:ea typeface="Merriweather"/>
                <a:cs typeface="Merriweather"/>
                <a:sym typeface="Merriweather"/>
              </a:rPr>
              <a:t>Strong 1 cycle/day peak is leftover trend</a:t>
            </a:r>
            <a:endParaRPr>
              <a:latin typeface="Merriweather"/>
              <a:ea typeface="Merriweather"/>
              <a:cs typeface="Merriweather"/>
              <a:sym typeface="Merriweather"/>
            </a:endParaRPr>
          </a:p>
          <a:p>
            <a:pPr indent="0" lvl="0" marL="0" rtl="0" algn="l">
              <a:spcBef>
                <a:spcPts val="1200"/>
              </a:spcBef>
              <a:spcAft>
                <a:spcPts val="0"/>
              </a:spcAft>
              <a:buNone/>
            </a:pPr>
            <a:r>
              <a:rPr lang="en">
                <a:latin typeface="Merriweather"/>
                <a:ea typeface="Merriweather"/>
                <a:cs typeface="Merriweather"/>
                <a:sym typeface="Merriweather"/>
              </a:rPr>
              <a:t>Nyquist-Limited and Detrended</a:t>
            </a:r>
            <a:endParaRPr>
              <a:latin typeface="Merriweather"/>
              <a:ea typeface="Merriweather"/>
              <a:cs typeface="Merriweather"/>
              <a:sym typeface="Merriweather"/>
            </a:endParaRPr>
          </a:p>
          <a:p>
            <a:pPr indent="-311150" lvl="0" marL="457200" rtl="0" algn="l">
              <a:spcBef>
                <a:spcPts val="1200"/>
              </a:spcBef>
              <a:spcAft>
                <a:spcPts val="0"/>
              </a:spcAft>
              <a:buSzPts val="1300"/>
              <a:buFont typeface="Merriweather"/>
              <a:buChar char="●"/>
            </a:pPr>
            <a:r>
              <a:rPr lang="en">
                <a:latin typeface="Merriweather"/>
                <a:ea typeface="Merriweather"/>
                <a:cs typeface="Merriweather"/>
                <a:sym typeface="Merriweather"/>
              </a:rPr>
              <a:t>Restricted to physically meaningful frequencies</a:t>
            </a:r>
            <a:endParaRPr>
              <a:latin typeface="Merriweather"/>
              <a:ea typeface="Merriweather"/>
              <a:cs typeface="Merriweather"/>
              <a:sym typeface="Merriweather"/>
            </a:endParaRPr>
          </a:p>
          <a:p>
            <a:pPr indent="-311150" lvl="0" marL="457200" rtl="0" algn="l">
              <a:spcBef>
                <a:spcPts val="0"/>
              </a:spcBef>
              <a:spcAft>
                <a:spcPts val="0"/>
              </a:spcAft>
              <a:buSzPts val="1300"/>
              <a:buFont typeface="Merriweather"/>
              <a:buChar char="●"/>
            </a:pPr>
            <a:r>
              <a:rPr lang="en">
                <a:latin typeface="Merriweather"/>
                <a:ea typeface="Merriweather"/>
                <a:cs typeface="Merriweather"/>
                <a:sym typeface="Merriweather"/>
              </a:rPr>
              <a:t>Periodogram becomes much cleaner</a:t>
            </a:r>
            <a:endParaRPr>
              <a:latin typeface="Merriweather"/>
              <a:ea typeface="Merriweather"/>
              <a:cs typeface="Merriweather"/>
              <a:sym typeface="Merriweather"/>
            </a:endParaRPr>
          </a:p>
          <a:p>
            <a:pPr indent="-311150" lvl="0" marL="457200" rtl="0" algn="l">
              <a:spcBef>
                <a:spcPts val="0"/>
              </a:spcBef>
              <a:spcAft>
                <a:spcPts val="0"/>
              </a:spcAft>
              <a:buSzPts val="1300"/>
              <a:buFont typeface="Merriweather"/>
              <a:buChar char="●"/>
            </a:pPr>
            <a:r>
              <a:rPr lang="en">
                <a:latin typeface="Merriweather"/>
                <a:ea typeface="Merriweather"/>
                <a:cs typeface="Merriweather"/>
                <a:sym typeface="Merriweather"/>
              </a:rPr>
              <a:t>Clear dominant peak at ~7130 µHz (~140 s)</a:t>
            </a:r>
            <a:endParaRPr>
              <a:latin typeface="Merriweather"/>
              <a:ea typeface="Merriweather"/>
              <a:cs typeface="Merriweather"/>
              <a:sym typeface="Merriweather"/>
            </a:endParaRPr>
          </a:p>
        </p:txBody>
      </p:sp>
      <p:pic>
        <p:nvPicPr>
          <p:cNvPr id="174" name="Google Shape;174;p27" title="Screenshot 2026-05-03 at 7.13.15 PM.png"/>
          <p:cNvPicPr preferRelativeResize="0"/>
          <p:nvPr/>
        </p:nvPicPr>
        <p:blipFill rotWithShape="1">
          <a:blip r:embed="rId3">
            <a:alphaModFix/>
          </a:blip>
          <a:srcRect b="0" l="0" r="1575" t="0"/>
          <a:stretch/>
        </p:blipFill>
        <p:spPr>
          <a:xfrm>
            <a:off x="4448025" y="3179375"/>
            <a:ext cx="4645260" cy="1964125"/>
          </a:xfrm>
          <a:prstGeom prst="rect">
            <a:avLst/>
          </a:prstGeom>
          <a:noFill/>
          <a:ln>
            <a:noFill/>
          </a:ln>
        </p:spPr>
      </p:pic>
      <p:pic>
        <p:nvPicPr>
          <p:cNvPr id="175" name="Google Shape;175;p27" title="Screenshot 2026-05-03 at 7.15.23 PM.png"/>
          <p:cNvPicPr preferRelativeResize="0"/>
          <p:nvPr/>
        </p:nvPicPr>
        <p:blipFill>
          <a:blip r:embed="rId4">
            <a:alphaModFix/>
          </a:blip>
          <a:stretch>
            <a:fillRect/>
          </a:stretch>
        </p:blipFill>
        <p:spPr>
          <a:xfrm>
            <a:off x="5058538" y="1277025"/>
            <a:ext cx="3424219" cy="1902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Periodograms Continued</a:t>
            </a:r>
            <a:endParaRPr/>
          </a:p>
        </p:txBody>
      </p:sp>
      <p:sp>
        <p:nvSpPr>
          <p:cNvPr id="181" name="Google Shape;181;p28"/>
          <p:cNvSpPr txBox="1"/>
          <p:nvPr>
            <p:ph idx="1" type="body"/>
          </p:nvPr>
        </p:nvSpPr>
        <p:spPr>
          <a:xfrm>
            <a:off x="311700" y="1505700"/>
            <a:ext cx="3999900" cy="343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Merriweather"/>
                <a:ea typeface="Merriweather"/>
                <a:cs typeface="Merriweather"/>
                <a:sym typeface="Merriweather"/>
              </a:rPr>
              <a:t>Comparison to Paper:</a:t>
            </a:r>
            <a:endParaRPr sz="1200">
              <a:latin typeface="Merriweather"/>
              <a:ea typeface="Merriweather"/>
              <a:cs typeface="Merriweather"/>
              <a:sym typeface="Merriweather"/>
            </a:endParaRPr>
          </a:p>
          <a:p>
            <a:pPr indent="-304800" lvl="0" marL="457200" rtl="0" algn="l">
              <a:lnSpc>
                <a:spcPct val="150000"/>
              </a:lnSpc>
              <a:spcBef>
                <a:spcPts val="1200"/>
              </a:spcBef>
              <a:spcAft>
                <a:spcPts val="0"/>
              </a:spcAft>
              <a:buSzPts val="1200"/>
              <a:buFont typeface="Merriweather"/>
              <a:buChar char="●"/>
            </a:pPr>
            <a:r>
              <a:rPr lang="en" sz="1200">
                <a:latin typeface="Merriweather"/>
                <a:ea typeface="Merriweather"/>
                <a:cs typeface="Merriweather"/>
                <a:sym typeface="Merriweather"/>
              </a:rPr>
              <a:t>Paper finds multiple modes (135–150 s)</a:t>
            </a:r>
            <a:endParaRPr sz="1200">
              <a:latin typeface="Merriweather"/>
              <a:ea typeface="Merriweather"/>
              <a:cs typeface="Merriweather"/>
              <a:sym typeface="Merriweather"/>
            </a:endParaRPr>
          </a:p>
          <a:p>
            <a:pPr indent="-304800" lvl="0" marL="457200" rtl="0" algn="l">
              <a:lnSpc>
                <a:spcPct val="150000"/>
              </a:lnSpc>
              <a:spcBef>
                <a:spcPts val="0"/>
              </a:spcBef>
              <a:spcAft>
                <a:spcPts val="0"/>
              </a:spcAft>
              <a:buSzPts val="1200"/>
              <a:buFont typeface="Merriweather"/>
              <a:buChar char="●"/>
            </a:pPr>
            <a:r>
              <a:rPr lang="en" sz="1200">
                <a:latin typeface="Merriweather"/>
                <a:ea typeface="Merriweather"/>
                <a:cs typeface="Merriweather"/>
                <a:sym typeface="Merriweather"/>
              </a:rPr>
              <a:t>We detect strong peak at ~140 s</a:t>
            </a:r>
            <a:endParaRPr sz="1200">
              <a:latin typeface="Merriweather"/>
              <a:ea typeface="Merriweather"/>
              <a:cs typeface="Merriweather"/>
              <a:sym typeface="Merriweather"/>
            </a:endParaRPr>
          </a:p>
          <a:p>
            <a:pPr indent="-304800" lvl="0" marL="457200" rtl="0" algn="l">
              <a:lnSpc>
                <a:spcPct val="150000"/>
              </a:lnSpc>
              <a:spcBef>
                <a:spcPts val="0"/>
              </a:spcBef>
              <a:spcAft>
                <a:spcPts val="0"/>
              </a:spcAft>
              <a:buSzPts val="1200"/>
              <a:buFont typeface="Merriweather"/>
              <a:buChar char="●"/>
            </a:pPr>
            <a:r>
              <a:rPr lang="en" sz="1200">
                <a:latin typeface="Merriweather"/>
                <a:ea typeface="Merriweather"/>
                <a:cs typeface="Merriweather"/>
                <a:sym typeface="Merriweather"/>
              </a:rPr>
              <a:t>Smaller nearby peaks → likely unresolved modes</a:t>
            </a:r>
            <a:endParaRPr sz="1200">
              <a:latin typeface="Merriweather"/>
              <a:ea typeface="Merriweather"/>
              <a:cs typeface="Merriweather"/>
              <a:sym typeface="Merriweather"/>
            </a:endParaRPr>
          </a:p>
          <a:p>
            <a:pPr indent="0" lvl="0" marL="0" rtl="0" algn="l">
              <a:lnSpc>
                <a:spcPct val="150000"/>
              </a:lnSpc>
              <a:spcBef>
                <a:spcPts val="0"/>
              </a:spcBef>
              <a:spcAft>
                <a:spcPts val="0"/>
              </a:spcAft>
              <a:buNone/>
            </a:pPr>
            <a:r>
              <a:t/>
            </a:r>
            <a:endParaRPr sz="1200">
              <a:latin typeface="Merriweather"/>
              <a:ea typeface="Merriweather"/>
              <a:cs typeface="Merriweather"/>
              <a:sym typeface="Merriweather"/>
            </a:endParaRPr>
          </a:p>
          <a:p>
            <a:pPr indent="0" lvl="0" marL="0" rtl="0" algn="l">
              <a:spcBef>
                <a:spcPts val="0"/>
              </a:spcBef>
              <a:spcAft>
                <a:spcPts val="0"/>
              </a:spcAft>
              <a:buNone/>
            </a:pPr>
            <a:r>
              <a:rPr lang="en" sz="1200">
                <a:latin typeface="Merriweather"/>
                <a:ea typeface="Merriweather"/>
                <a:cs typeface="Merriweather"/>
                <a:sym typeface="Merriweather"/>
              </a:rPr>
              <a:t>Sanity check data split:</a:t>
            </a:r>
            <a:endParaRPr sz="1200">
              <a:latin typeface="Merriweather"/>
              <a:ea typeface="Merriweather"/>
              <a:cs typeface="Merriweather"/>
              <a:sym typeface="Merriweather"/>
            </a:endParaRPr>
          </a:p>
          <a:p>
            <a:pPr indent="-304800" lvl="0" marL="457200" rtl="0" algn="l">
              <a:lnSpc>
                <a:spcPct val="150000"/>
              </a:lnSpc>
              <a:spcBef>
                <a:spcPts val="1200"/>
              </a:spcBef>
              <a:spcAft>
                <a:spcPts val="0"/>
              </a:spcAft>
              <a:buSzPts val="1200"/>
              <a:buFont typeface="Merriweather"/>
              <a:buChar char="●"/>
            </a:pPr>
            <a:r>
              <a:rPr lang="en" sz="1200">
                <a:latin typeface="Merriweather"/>
                <a:ea typeface="Merriweather"/>
                <a:cs typeface="Merriweather"/>
                <a:sym typeface="Merriweather"/>
              </a:rPr>
              <a:t>Two mini periodograms</a:t>
            </a:r>
            <a:endParaRPr sz="1200">
              <a:latin typeface="Merriweather"/>
              <a:ea typeface="Merriweather"/>
              <a:cs typeface="Merriweather"/>
              <a:sym typeface="Merriweather"/>
            </a:endParaRPr>
          </a:p>
          <a:p>
            <a:pPr indent="-304800" lvl="1" marL="914400" rtl="0" algn="l">
              <a:lnSpc>
                <a:spcPct val="150000"/>
              </a:lnSpc>
              <a:spcBef>
                <a:spcPts val="0"/>
              </a:spcBef>
              <a:spcAft>
                <a:spcPts val="0"/>
              </a:spcAft>
              <a:buSzPts val="1200"/>
              <a:buFont typeface="Merriweather"/>
              <a:buChar char="○"/>
            </a:pPr>
            <a:r>
              <a:rPr lang="en" sz="1200">
                <a:latin typeface="Merriweather"/>
                <a:ea typeface="Merriweather"/>
                <a:cs typeface="Merriweather"/>
                <a:sym typeface="Merriweather"/>
              </a:rPr>
              <a:t>First half main peak: </a:t>
            </a:r>
            <a:r>
              <a:rPr lang="en" sz="1200">
                <a:latin typeface="Merriweather"/>
                <a:ea typeface="Merriweather"/>
                <a:cs typeface="Merriweather"/>
                <a:sym typeface="Merriweather"/>
              </a:rPr>
              <a:t>140.31 s</a:t>
            </a:r>
            <a:endParaRPr sz="1200">
              <a:latin typeface="Merriweather"/>
              <a:ea typeface="Merriweather"/>
              <a:cs typeface="Merriweather"/>
              <a:sym typeface="Merriweather"/>
            </a:endParaRPr>
          </a:p>
          <a:p>
            <a:pPr indent="-304800" lvl="1" marL="914400" rtl="0" algn="l">
              <a:lnSpc>
                <a:spcPct val="150000"/>
              </a:lnSpc>
              <a:spcBef>
                <a:spcPts val="0"/>
              </a:spcBef>
              <a:spcAft>
                <a:spcPts val="0"/>
              </a:spcAft>
              <a:buSzPts val="1200"/>
              <a:buFont typeface="Merriweather"/>
              <a:buChar char="○"/>
            </a:pPr>
            <a:r>
              <a:rPr lang="en" sz="1200">
                <a:latin typeface="Merriweather"/>
                <a:ea typeface="Merriweather"/>
                <a:cs typeface="Merriweather"/>
                <a:sym typeface="Merriweather"/>
              </a:rPr>
              <a:t>Second half main peak: 140.23 s</a:t>
            </a:r>
            <a:endParaRPr sz="1200">
              <a:latin typeface="Merriweather"/>
              <a:ea typeface="Merriweather"/>
              <a:cs typeface="Merriweather"/>
              <a:sym typeface="Merriweather"/>
            </a:endParaRPr>
          </a:p>
        </p:txBody>
      </p:sp>
      <p:pic>
        <p:nvPicPr>
          <p:cNvPr id="182" name="Google Shape;182;p28" title="Screenshot 2026-05-03 at 7.26.05 PM.png"/>
          <p:cNvPicPr preferRelativeResize="0"/>
          <p:nvPr/>
        </p:nvPicPr>
        <p:blipFill>
          <a:blip r:embed="rId3">
            <a:alphaModFix/>
          </a:blip>
          <a:stretch>
            <a:fillRect/>
          </a:stretch>
        </p:blipFill>
        <p:spPr>
          <a:xfrm>
            <a:off x="4311600" y="2220025"/>
            <a:ext cx="4602350" cy="1724575"/>
          </a:xfrm>
          <a:prstGeom prst="rect">
            <a:avLst/>
          </a:prstGeom>
          <a:noFill/>
          <a:ln>
            <a:noFill/>
          </a:ln>
        </p:spPr>
      </p:pic>
      <p:sp>
        <p:nvSpPr>
          <p:cNvPr id="183" name="Google Shape;183;p28"/>
          <p:cNvSpPr txBox="1"/>
          <p:nvPr>
            <p:ph idx="1" type="body"/>
          </p:nvPr>
        </p:nvSpPr>
        <p:spPr>
          <a:xfrm>
            <a:off x="4953775" y="4141750"/>
            <a:ext cx="3318000" cy="661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900">
                <a:latin typeface="Merriweather"/>
                <a:ea typeface="Merriweather"/>
                <a:cs typeface="Merriweather"/>
                <a:sym typeface="Merriweather"/>
              </a:rPr>
              <a:t>(Periodogram from “Short-period pulsating hot subdwarf stars observed by TESS”, Baran et. al)</a:t>
            </a:r>
            <a:endParaRPr sz="900">
              <a:latin typeface="Merriweather"/>
              <a:ea typeface="Merriweather"/>
              <a:cs typeface="Merriweather"/>
              <a:sym typeface="Merriweath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nvSpPr>
        <p:spPr>
          <a:xfrm>
            <a:off x="1404900" y="1176300"/>
            <a:ext cx="6334200" cy="279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800" u="sng">
                <a:solidFill>
                  <a:schemeClr val="accent3"/>
                </a:solidFill>
                <a:latin typeface="Merriweather"/>
                <a:ea typeface="Merriweather"/>
                <a:cs typeface="Merriweather"/>
                <a:sym typeface="Merriweather"/>
              </a:rPr>
              <a:t>Thank you!</a:t>
            </a:r>
            <a:endParaRPr b="1" sz="4800" u="sng">
              <a:solidFill>
                <a:schemeClr val="accent3"/>
              </a:solidFill>
              <a:latin typeface="Merriweather"/>
              <a:ea typeface="Merriweather"/>
              <a:cs typeface="Merriweather"/>
              <a:sym typeface="Merriweather"/>
            </a:endParaRPr>
          </a:p>
          <a:p>
            <a:pPr indent="0" lvl="0" marL="0" rtl="0" algn="ctr">
              <a:spcBef>
                <a:spcPts val="0"/>
              </a:spcBef>
              <a:spcAft>
                <a:spcPts val="0"/>
              </a:spcAft>
              <a:buNone/>
            </a:pPr>
            <a:r>
              <a:t/>
            </a:r>
            <a:endParaRPr sz="2400">
              <a:solidFill>
                <a:schemeClr val="accent3"/>
              </a:solidFill>
              <a:latin typeface="Merriweather"/>
              <a:ea typeface="Merriweather"/>
              <a:cs typeface="Merriweather"/>
              <a:sym typeface="Merriweather"/>
            </a:endParaRPr>
          </a:p>
          <a:p>
            <a:pPr indent="0" lvl="0" marL="0" rtl="0" algn="ctr">
              <a:spcBef>
                <a:spcPts val="0"/>
              </a:spcBef>
              <a:spcAft>
                <a:spcPts val="0"/>
              </a:spcAft>
              <a:buNone/>
            </a:pPr>
            <a:r>
              <a:t/>
            </a:r>
            <a:endParaRPr sz="2400">
              <a:solidFill>
                <a:schemeClr val="accent3"/>
              </a:solidFill>
              <a:latin typeface="Merriweather"/>
              <a:ea typeface="Merriweather"/>
              <a:cs typeface="Merriweather"/>
              <a:sym typeface="Merriweather"/>
            </a:endParaRPr>
          </a:p>
          <a:p>
            <a:pPr indent="0" lvl="0" marL="0" rtl="0" algn="ctr">
              <a:spcBef>
                <a:spcPts val="0"/>
              </a:spcBef>
              <a:spcAft>
                <a:spcPts val="0"/>
              </a:spcAft>
              <a:buNone/>
            </a:pPr>
            <a:r>
              <a:t/>
            </a:r>
            <a:endParaRPr sz="2400">
              <a:solidFill>
                <a:schemeClr val="accent3"/>
              </a:solidFill>
              <a:latin typeface="Merriweather"/>
              <a:ea typeface="Merriweather"/>
              <a:cs typeface="Merriweather"/>
              <a:sym typeface="Merriweather"/>
            </a:endParaRPr>
          </a:p>
          <a:p>
            <a:pPr indent="0" lvl="0" marL="0" rtl="0" algn="ctr">
              <a:spcBef>
                <a:spcPts val="0"/>
              </a:spcBef>
              <a:spcAft>
                <a:spcPts val="0"/>
              </a:spcAft>
              <a:buNone/>
            </a:pPr>
            <a:r>
              <a:rPr lang="en">
                <a:solidFill>
                  <a:schemeClr val="accent3"/>
                </a:solidFill>
                <a:latin typeface="Merriweather"/>
                <a:ea typeface="Merriweather"/>
                <a:cs typeface="Merriweather"/>
                <a:sym typeface="Merriweather"/>
              </a:rPr>
              <a:t>….and May the fourth be with you. </a:t>
            </a:r>
            <a:endParaRPr>
              <a:solidFill>
                <a:schemeClr val="accent3"/>
              </a:solidFill>
              <a:latin typeface="Merriweather"/>
              <a:ea typeface="Merriweather"/>
              <a:cs typeface="Merriweather"/>
              <a:sym typeface="Merriweath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